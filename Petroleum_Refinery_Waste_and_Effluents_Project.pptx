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966960" y="-640080"/>
            <a:ext cx="3108960" cy="310896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4389120"/>
            <a:ext cx="2286000" cy="2286000"/>
          </a:xfrm>
          <a:prstGeom prst="ellipse">
            <a:avLst/>
          </a:prstGeom>
          <a:solidFill>
            <a:srgbClr val="FF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2743200" cy="274320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7772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1">
                <a:solidFill>
                  <a:srgbClr val="AEEBD5"/>
                </a:solidFill>
                <a:latin typeface="Aptos"/>
              </a:defRPr>
            </a:pPr>
            <a:r>
              <a:t>CHEMISTRY • ENVIRONMENTAL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1645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A PROJECT ON THE</a:t>
            </a:r>
            <a:br/>
            <a:r>
              <a:t>ENVIRONMENTAL MANAGEMENT OF PETROLEUM REFINERY WASTE AND EFFLUENTS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667512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0">
                <a:solidFill>
                  <a:srgbClr val="AEEBD5"/>
                </a:solidFill>
                <a:latin typeface="Aptos"/>
              </a:defRPr>
            </a:pPr>
            <a:r>
              <a:t>Cleaner processes. Safer water. A healthier planet.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920240"/>
            <a:ext cx="3977639" cy="3429000"/>
          </a:xfrm>
          <a:prstGeom prst="round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61980" y="2263140"/>
            <a:ext cx="517093" cy="517093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00316" y="4251960"/>
            <a:ext cx="2784347" cy="144018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890253" y="4389120"/>
            <a:ext cx="3182112" cy="1200150"/>
          </a:xfrm>
          <a:prstGeom prst="ellipse">
            <a:avLst/>
          </a:prstGeom>
          <a:solidFill>
            <a:srgbClr val="2A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4732020"/>
            <a:ext cx="3977639" cy="617219"/>
          </a:xfrm>
          <a:prstGeom prst="rect">
            <a:avLst/>
          </a:prstGeom>
          <a:solidFill>
            <a:srgbClr val="307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6291" y="3806189"/>
            <a:ext cx="715975" cy="967663"/>
          </a:xfrm>
          <a:prstGeom prst="rect">
            <a:avLst/>
          </a:prstGeom>
          <a:solidFill>
            <a:srgbClr val="E9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816291" y="3566160"/>
            <a:ext cx="715975" cy="4457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rc 14"/>
          <p:cNvSpPr/>
          <p:nvPr/>
        </p:nvSpPr>
        <p:spPr>
          <a:xfrm>
            <a:off x="7816291" y="4417237"/>
            <a:ext cx="715975" cy="445770"/>
          </a:xfrm>
          <a:prstGeom prst="arc">
            <a:avLst/>
          </a:prstGeom>
          <a:solidFill>
            <a:srgbClr val="46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31148" y="4080509"/>
            <a:ext cx="556869" cy="739978"/>
          </a:xfrm>
          <a:prstGeom prst="rect">
            <a:avLst/>
          </a:prstGeom>
          <a:solidFill>
            <a:srgbClr val="E9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731148" y="3840479"/>
            <a:ext cx="556869" cy="4457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rc 17"/>
          <p:cNvSpPr/>
          <p:nvPr/>
        </p:nvSpPr>
        <p:spPr>
          <a:xfrm>
            <a:off x="8731148" y="4491304"/>
            <a:ext cx="556869" cy="445770"/>
          </a:xfrm>
          <a:prstGeom prst="arc">
            <a:avLst/>
          </a:prstGeom>
          <a:solidFill>
            <a:srgbClr val="46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66452" y="3909060"/>
            <a:ext cx="676198" cy="882281"/>
          </a:xfrm>
          <a:prstGeom prst="rect">
            <a:avLst/>
          </a:prstGeom>
          <a:solidFill>
            <a:srgbClr val="E9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566452" y="3669030"/>
            <a:ext cx="676198" cy="4457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rc 20"/>
          <p:cNvSpPr/>
          <p:nvPr/>
        </p:nvSpPr>
        <p:spPr>
          <a:xfrm>
            <a:off x="9566452" y="4445012"/>
            <a:ext cx="676198" cy="445770"/>
          </a:xfrm>
          <a:prstGeom prst="arc">
            <a:avLst/>
          </a:prstGeom>
          <a:solidFill>
            <a:srgbClr val="46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92490" y="3086100"/>
            <a:ext cx="178993" cy="1645919"/>
          </a:xfrm>
          <a:prstGeom prst="rect">
            <a:avLst/>
          </a:prstGeom>
          <a:solidFill>
            <a:srgbClr val="FF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60668" y="3086100"/>
            <a:ext cx="242636" cy="1200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48241" y="2743200"/>
            <a:ext cx="178993" cy="1988819"/>
          </a:xfrm>
          <a:prstGeom prst="rect">
            <a:avLst/>
          </a:prstGeom>
          <a:solidFill>
            <a:srgbClr val="5A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16420" y="2743200"/>
            <a:ext cx="242636" cy="1200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242651" y="3257550"/>
            <a:ext cx="178993" cy="1474470"/>
          </a:xfrm>
          <a:prstGeom prst="rect">
            <a:avLst/>
          </a:prstGeom>
          <a:solidFill>
            <a:srgbClr val="5A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210830" y="3257550"/>
            <a:ext cx="242636" cy="1200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452713" y="3771900"/>
            <a:ext cx="1233068" cy="85725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486900" y="3566160"/>
            <a:ext cx="99441" cy="34290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01757" y="3291840"/>
            <a:ext cx="795528" cy="61721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4114800"/>
            <a:ext cx="6385560" cy="95718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endParaRPr lang="en-IN" dirty="0"/>
          </a:p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                             </a:t>
            </a:r>
          </a:p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                             K . Nanditha    260RH1A05W8</a:t>
            </a:r>
          </a:p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                              K . Sanjana      26RH1A05W9</a:t>
            </a:r>
          </a:p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                              K . Akshaya       26RH1A05X0</a:t>
            </a:r>
            <a:r>
              <a:rPr dirty="0"/>
              <a:t> </a:t>
            </a:r>
            <a:r>
              <a:rPr lang="en-IN" dirty="0"/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AEEBD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7C8B5C-9E72-4653-013A-C0BEA7ACDDF5}"/>
              </a:ext>
            </a:extLst>
          </p:cNvPr>
          <p:cNvSpPr txBox="1"/>
          <p:nvPr/>
        </p:nvSpPr>
        <p:spPr>
          <a:xfrm>
            <a:off x="762000" y="4267200"/>
            <a:ext cx="6385560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rPr dirty="0"/>
              <a:t>Prepared by: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00A6A6"/>
                </a:solidFill>
                <a:latin typeface="Aptos"/>
              </a:defRPr>
            </a:pPr>
            <a:r>
              <a:t>01 •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0F223A"/>
                </a:solidFill>
                <a:latin typeface="Aptos"/>
              </a:defRPr>
            </a:pPr>
            <a:r>
              <a:t>Why refinery waste management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Petroleum refineries turn crude oil into useful fuels—but the process also creates waste that must be controlled.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960120" cy="5486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465B7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965960"/>
            <a:ext cx="4892040" cy="3977639"/>
          </a:xfrm>
          <a:prstGeom prst="roundRect">
            <a:avLst/>
          </a:prstGeom>
          <a:solidFill>
            <a:srgbClr val="DB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105948" y="2363724"/>
            <a:ext cx="635965" cy="635965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94476" y="4670755"/>
            <a:ext cx="3424427" cy="167060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95894" y="4829860"/>
            <a:ext cx="3913632" cy="1392173"/>
          </a:xfrm>
          <a:prstGeom prst="ellipse">
            <a:avLst/>
          </a:prstGeom>
          <a:solidFill>
            <a:srgbClr val="2A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0" y="5227624"/>
            <a:ext cx="4892040" cy="715975"/>
          </a:xfrm>
          <a:prstGeom prst="rect">
            <a:avLst/>
          </a:prstGeom>
          <a:solidFill>
            <a:srgbClr val="307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75043" y="4153661"/>
            <a:ext cx="880567" cy="1122490"/>
          </a:xfrm>
          <a:prstGeom prst="rect">
            <a:avLst/>
          </a:prstGeom>
          <a:solidFill>
            <a:srgbClr val="E9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75043" y="3875227"/>
            <a:ext cx="880567" cy="5170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rc 13"/>
          <p:cNvSpPr/>
          <p:nvPr/>
        </p:nvSpPr>
        <p:spPr>
          <a:xfrm>
            <a:off x="6975043" y="4862477"/>
            <a:ext cx="880567" cy="517093"/>
          </a:xfrm>
          <a:prstGeom prst="arc">
            <a:avLst/>
          </a:prstGeom>
          <a:solidFill>
            <a:srgbClr val="46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0212" y="4471873"/>
            <a:ext cx="684885" cy="858374"/>
          </a:xfrm>
          <a:prstGeom prst="rect">
            <a:avLst/>
          </a:prstGeom>
          <a:solidFill>
            <a:srgbClr val="E9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100212" y="4193438"/>
            <a:ext cx="684885" cy="5170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100212" y="4948394"/>
            <a:ext cx="684885" cy="517093"/>
          </a:xfrm>
          <a:prstGeom prst="arc">
            <a:avLst/>
          </a:prstGeom>
          <a:solidFill>
            <a:srgbClr val="46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27540" y="4272991"/>
            <a:ext cx="831646" cy="1023446"/>
          </a:xfrm>
          <a:prstGeom prst="rect">
            <a:avLst/>
          </a:prstGeom>
          <a:solidFill>
            <a:srgbClr val="E9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27540" y="3994556"/>
            <a:ext cx="831646" cy="5170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rc 19"/>
          <p:cNvSpPr/>
          <p:nvPr/>
        </p:nvSpPr>
        <p:spPr>
          <a:xfrm>
            <a:off x="9127540" y="4894696"/>
            <a:ext cx="831646" cy="517093"/>
          </a:xfrm>
          <a:prstGeom prst="arc">
            <a:avLst/>
          </a:prstGeom>
          <a:solidFill>
            <a:srgbClr val="46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06690" y="3318357"/>
            <a:ext cx="220141" cy="1909267"/>
          </a:xfrm>
          <a:prstGeom prst="rect">
            <a:avLst/>
          </a:prstGeom>
          <a:solidFill>
            <a:srgbClr val="FF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67553" y="3318357"/>
            <a:ext cx="298414" cy="1392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736177" y="2920593"/>
            <a:ext cx="220141" cy="2307031"/>
          </a:xfrm>
          <a:prstGeom prst="rect">
            <a:avLst/>
          </a:prstGeom>
          <a:solidFill>
            <a:srgbClr val="5A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97041" y="2920593"/>
            <a:ext cx="298414" cy="1392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959187" y="3517239"/>
            <a:ext cx="220141" cy="1710385"/>
          </a:xfrm>
          <a:prstGeom prst="rect">
            <a:avLst/>
          </a:prstGeom>
          <a:solidFill>
            <a:srgbClr val="5A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920051" y="3517239"/>
            <a:ext cx="298414" cy="1392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57769" y="4113885"/>
            <a:ext cx="1516532" cy="99441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29700" y="3875227"/>
            <a:ext cx="122301" cy="39776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54869" y="3557015"/>
            <a:ext cx="978408" cy="71597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2057400"/>
            <a:ext cx="5212080" cy="356616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0F223A"/>
                </a:solidFill>
                <a:latin typeface="Aptos"/>
              </a:defRPr>
            </a:pPr>
            <a:r>
              <a:t>•  Refining uses heat, pressure, water and chemical processes.</a:t>
            </a:r>
          </a:p>
          <a:p>
            <a:pPr>
              <a:spcAft>
                <a:spcPts val="1300"/>
              </a:spcAft>
              <a:defRPr sz="1700">
                <a:solidFill>
                  <a:srgbClr val="0F223A"/>
                </a:solidFill>
                <a:latin typeface="Aptos"/>
              </a:defRPr>
            </a:pPr>
            <a:r>
              <a:t>•  Waste may include oily water, sludge, spent catalysts and air emissions.</a:t>
            </a:r>
          </a:p>
          <a:p>
            <a:pPr>
              <a:spcAft>
                <a:spcPts val="1300"/>
              </a:spcAft>
              <a:defRPr sz="1700">
                <a:solidFill>
                  <a:srgbClr val="0F223A"/>
                </a:solidFill>
                <a:latin typeface="Aptos"/>
              </a:defRPr>
            </a:pPr>
            <a:r>
              <a:t>•  Poor handling can pollute rivers, soil and the atmosphere.</a:t>
            </a:r>
          </a:p>
          <a:p>
            <a:pPr>
              <a:spcAft>
                <a:spcPts val="1300"/>
              </a:spcAft>
              <a:defRPr sz="1700">
                <a:solidFill>
                  <a:srgbClr val="0F223A"/>
                </a:solidFill>
                <a:latin typeface="Aptos"/>
              </a:defRPr>
            </a:pPr>
            <a:r>
              <a:t>•  Good management protects people, ecosystems and resources.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5577840"/>
            <a:ext cx="5303520" cy="475488"/>
          </a:xfrm>
          <a:prstGeom prst="roundRect">
            <a:avLst/>
          </a:prstGeom>
          <a:solidFill>
            <a:srgbClr val="E2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5660136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2A8E68"/>
                </a:solidFill>
                <a:latin typeface="Aptos"/>
              </a:defRPr>
            </a:pPr>
            <a:r>
              <a:t>GOAL: prevent pollution before it happens.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00A6A6"/>
                </a:solidFill>
                <a:latin typeface="Aptos"/>
              </a:defRPr>
            </a:pPr>
            <a:r>
              <a:t>02 •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0F223A"/>
                </a:solidFill>
                <a:latin typeface="Aptos"/>
              </a:defRPr>
            </a:pPr>
            <a:r>
              <a:t>Where do refinery wastes come from?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Waste streams differ by crude oil type, refinery design and operating conditions.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960120" cy="5486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465B7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5204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82296" cy="15087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2167128"/>
            <a:ext cx="502920" cy="50292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H₂O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30552"/>
            <a:ext cx="25146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Process wastewater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87752"/>
            <a:ext cx="2514600" cy="758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Desalting, washing, cooling and equipment cleaning can produce contaminated water.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965960"/>
            <a:ext cx="35204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965960"/>
            <a:ext cx="82296" cy="1508760"/>
          </a:xfrm>
          <a:prstGeom prst="rect">
            <a:avLst/>
          </a:prstGeom>
          <a:solidFill>
            <a:srgbClr val="FF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44568" y="2167128"/>
            <a:ext cx="502920" cy="502920"/>
          </a:xfrm>
          <a:prstGeom prst="ellipse">
            <a:avLst/>
          </a:prstGeom>
          <a:solidFill>
            <a:srgbClr val="FF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19456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OIL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130552"/>
            <a:ext cx="25146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Oil sludge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587752"/>
            <a:ext cx="2514600" cy="758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Oil tanks, separators and treatment units collect oil mixed with solids and water.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965960"/>
            <a:ext cx="35204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01000" y="1965960"/>
            <a:ext cx="82296" cy="150876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02168" y="2167128"/>
            <a:ext cx="502920" cy="50292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19456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130552"/>
            <a:ext cx="25146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Spent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587752"/>
            <a:ext cx="2514600" cy="758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Used catalysts, filters, chemicals and contaminated packaging need special handling.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80" y="3886200"/>
            <a:ext cx="35204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468880" y="3886200"/>
            <a:ext cx="82296" cy="1508760"/>
          </a:xfrm>
          <a:prstGeom prst="rect">
            <a:avLst/>
          </a:prstGeom>
          <a:solidFill>
            <a:srgbClr val="469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70048" y="4087368"/>
            <a:ext cx="502920" cy="502920"/>
          </a:xfrm>
          <a:prstGeom prst="ellipse">
            <a:avLst/>
          </a:prstGeom>
          <a:solidFill>
            <a:srgbClr val="469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97480" y="411480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050791"/>
            <a:ext cx="25146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Air emissions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507992"/>
            <a:ext cx="2514600" cy="758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Combustion and process units may release SOₓ, NOₓ, particulates and VOCs.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886200"/>
            <a:ext cx="35204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72200" y="3886200"/>
            <a:ext cx="82296" cy="1508760"/>
          </a:xfrm>
          <a:prstGeom prst="rect">
            <a:avLst/>
          </a:prstGeom>
          <a:solidFill>
            <a:srgbClr val="2A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373368" y="4087368"/>
            <a:ext cx="502920" cy="502920"/>
          </a:xfrm>
          <a:prstGeom prst="ellipse">
            <a:avLst/>
          </a:prstGeom>
          <a:solidFill>
            <a:srgbClr val="2A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411480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050791"/>
            <a:ext cx="25146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Solid waste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507992"/>
            <a:ext cx="2514600" cy="758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Scale, tank-bottom solids and maintenance waste require sorting and safe storage.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870448"/>
            <a:ext cx="10698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1">
                <a:solidFill>
                  <a:srgbClr val="0F223A"/>
                </a:solidFill>
                <a:latin typeface="Aptos"/>
              </a:defRPr>
            </a:pPr>
            <a:r>
              <a:t>Key idea: identify each waste stream before choosing a treatment method.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00A6A6"/>
                </a:solidFill>
                <a:latin typeface="Aptos"/>
              </a:defRPr>
            </a:pPr>
            <a:r>
              <a:t>03 • POLLUTANTS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0F223A"/>
                </a:solidFill>
                <a:latin typeface="Aptos"/>
              </a:defRPr>
            </a:pPr>
            <a:r>
              <a:t>What can be present in refinery effluents?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The exact composition must be confirmed by sampling and laboratory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960120" cy="5486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465B7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" y="2221991"/>
            <a:ext cx="658368" cy="658368"/>
          </a:xfrm>
          <a:prstGeom prst="ellipse">
            <a:avLst/>
          </a:prstGeom>
          <a:solidFill>
            <a:srgbClr val="FF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37360" y="2167128"/>
            <a:ext cx="22402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0F223A"/>
                </a:solidFill>
                <a:latin typeface="Aptos"/>
              </a:defRPr>
            </a:pPr>
            <a:r>
              <a:t>Oil &amp; grease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560320"/>
            <a:ext cx="22402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465B70"/>
                </a:solidFill>
                <a:latin typeface="Aptos"/>
              </a:defRPr>
            </a:pPr>
            <a:r>
              <a:t>Can form surface films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96596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27448" y="2221991"/>
            <a:ext cx="658368" cy="658368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32120" y="2167128"/>
            <a:ext cx="22402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0F223A"/>
                </a:solidFill>
                <a:latin typeface="Aptos"/>
              </a:defRPr>
            </a:pPr>
            <a:r>
              <a:t>Phenols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560320"/>
            <a:ext cx="22402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465B70"/>
                </a:solidFill>
                <a:latin typeface="Aptos"/>
              </a:defRPr>
            </a:pPr>
            <a:r>
              <a:t>Toxic to aquatic life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96596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22208" y="2221991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0" y="2167128"/>
            <a:ext cx="22402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0F223A"/>
                </a:solidFill>
                <a:latin typeface="Aptos"/>
              </a:defRPr>
            </a:pPr>
            <a:r>
              <a:t>Sulfides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560320"/>
            <a:ext cx="22402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465B70"/>
                </a:solidFill>
                <a:latin typeface="Aptos"/>
              </a:defRPr>
            </a:pPr>
            <a:r>
              <a:t>Odour and toxicity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867912"/>
            <a:ext cx="658368" cy="658368"/>
          </a:xfrm>
          <a:prstGeom prst="ellipse">
            <a:avLst/>
          </a:prstGeom>
          <a:solidFill>
            <a:srgbClr val="469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37360" y="3813048"/>
            <a:ext cx="22402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0F223A"/>
                </a:solidFill>
                <a:latin typeface="Aptos"/>
              </a:defRPr>
            </a:pPr>
            <a:r>
              <a:t>Ammonia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206240"/>
            <a:ext cx="22402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465B70"/>
                </a:solidFill>
                <a:latin typeface="Aptos"/>
              </a:defRPr>
            </a:pPr>
            <a:r>
              <a:t>Can harm aquatic organisms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611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727448" y="3867912"/>
            <a:ext cx="658368" cy="658368"/>
          </a:xfrm>
          <a:prstGeom prst="ellipse">
            <a:avLst/>
          </a:prstGeom>
          <a:solidFill>
            <a:srgbClr val="2A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32120" y="3813048"/>
            <a:ext cx="22402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0F223A"/>
                </a:solidFill>
                <a:latin typeface="Aptos"/>
              </a:defRPr>
            </a:pPr>
            <a:r>
              <a:t>Suspended solids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4206240"/>
            <a:ext cx="22402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465B70"/>
                </a:solidFill>
                <a:latin typeface="Aptos"/>
              </a:defRPr>
            </a:pPr>
            <a:r>
              <a:t>Increase water turbidity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611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522208" y="3867912"/>
            <a:ext cx="658368" cy="658368"/>
          </a:xfrm>
          <a:prstGeom prst="ellipse">
            <a:avLst/>
          </a:prstGeom>
          <a:solidFill>
            <a:srgbClr val="8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0" y="3813048"/>
            <a:ext cx="22402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0F223A"/>
                </a:solidFill>
                <a:latin typeface="Aptos"/>
              </a:defRPr>
            </a:pPr>
            <a:r>
              <a:t>High COD/BOD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206240"/>
            <a:ext cx="22402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465B70"/>
                </a:solidFill>
                <a:latin typeface="Aptos"/>
              </a:defRPr>
            </a:pPr>
            <a:r>
              <a:t>Reduce dissolved oxygen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5577840"/>
            <a:ext cx="9966960" cy="438912"/>
          </a:xfrm>
          <a:prstGeom prst="round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25880" y="5650992"/>
            <a:ext cx="95097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Treatment targets are set using discharge standards and receiving-water sensitivity.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00A6A6"/>
                </a:solidFill>
                <a:latin typeface="Aptos"/>
              </a:defRPr>
            </a:pPr>
            <a:r>
              <a:t>04 • ENVIRONMENTAL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0F223A"/>
                </a:solidFill>
                <a:latin typeface="Aptos"/>
              </a:defRPr>
            </a:pPr>
            <a:r>
              <a:t>What happens if waste is not controlled?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Pollution can affect ecosystems, public health and the refinery’s long-term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960120" cy="5486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465B7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749039" cy="3931920"/>
          </a:xfrm>
          <a:prstGeom prst="roundRect">
            <a:avLst/>
          </a:prstGeom>
          <a:solidFill>
            <a:srgbClr val="DA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2286000"/>
            <a:ext cx="1005840" cy="10058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301752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400" b="1">
                <a:solidFill>
                  <a:srgbClr val="469AD4"/>
                </a:solidFill>
                <a:latin typeface="Aptos"/>
              </a:defRPr>
            </a:pPr>
            <a:r>
              <a:t>≈ ≈ ≈ ≈ 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06240"/>
            <a:ext cx="31089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0F223A"/>
                </a:solidFill>
                <a:latin typeface="Aptos"/>
              </a:defRPr>
            </a:pPr>
            <a:r>
              <a:t>WATER • SOIL • 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892040"/>
            <a:ext cx="310896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0">
                <a:solidFill>
                  <a:srgbClr val="465B70"/>
                </a:solidFill>
                <a:latin typeface="Aptos"/>
              </a:defRPr>
            </a:pPr>
            <a:r>
              <a:t>One leak can travel far.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965960"/>
            <a:ext cx="2971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92040" y="1965960"/>
            <a:ext cx="82296" cy="1417320"/>
          </a:xfrm>
          <a:prstGeom prst="rect">
            <a:avLst/>
          </a:prstGeom>
          <a:solidFill>
            <a:srgbClr val="469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093207" y="2167128"/>
            <a:ext cx="502920" cy="502920"/>
          </a:xfrm>
          <a:prstGeom prst="ellipse">
            <a:avLst/>
          </a:prstGeom>
          <a:solidFill>
            <a:srgbClr val="469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20640" y="219456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130552"/>
            <a:ext cx="19659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Water pollution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587752"/>
            <a:ext cx="1965960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Toxic compounds can harm fish and reduce water quality.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965960"/>
            <a:ext cx="32918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1965960"/>
            <a:ext cx="82296" cy="1417320"/>
          </a:xfrm>
          <a:prstGeom prst="rect">
            <a:avLst/>
          </a:prstGeom>
          <a:solidFill>
            <a:srgbClr val="2A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93608" y="2167128"/>
            <a:ext cx="502920" cy="502920"/>
          </a:xfrm>
          <a:prstGeom prst="ellipse">
            <a:avLst/>
          </a:prstGeom>
          <a:solidFill>
            <a:srgbClr val="2A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219456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130552"/>
            <a:ext cx="22860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Soil contamination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587752"/>
            <a:ext cx="2286000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Leaks may damage soil and reach groundwater.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3749039"/>
            <a:ext cx="2971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92040" y="3749039"/>
            <a:ext cx="82296" cy="1417320"/>
          </a:xfrm>
          <a:prstGeom prst="rect">
            <a:avLst/>
          </a:prstGeom>
          <a:solidFill>
            <a:srgbClr val="FF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093207" y="3950207"/>
            <a:ext cx="502920" cy="502920"/>
          </a:xfrm>
          <a:prstGeom prst="ellipse">
            <a:avLst/>
          </a:prstGeom>
          <a:solidFill>
            <a:srgbClr val="FF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0" y="3977639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3913631"/>
            <a:ext cx="19659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Air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4370831"/>
            <a:ext cx="1965960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Fugitive emissions and combustion pollutants affect local air.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749039"/>
            <a:ext cx="32918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92440" y="3749039"/>
            <a:ext cx="82296" cy="141732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293608" y="3950207"/>
            <a:ext cx="502920" cy="50292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3977639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3913631"/>
            <a:ext cx="22860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Climate 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370831"/>
            <a:ext cx="2286000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Energy use and flaring contribute to greenhouse-gas emissions.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00A6A6"/>
                </a:solidFill>
                <a:latin typeface="Aptos"/>
              </a:defRPr>
            </a:pPr>
            <a:r>
              <a:t>05 • MANAGEMENT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0F223A"/>
                </a:solidFill>
                <a:latin typeface="Aptos"/>
              </a:defRPr>
            </a:pPr>
            <a:r>
              <a:t>Follow the waste-management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The best option is usually to avoid creating waste in the first place.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960120" cy="5486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465B7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78127" y="1874519"/>
            <a:ext cx="9235440" cy="621792"/>
          </a:xfrm>
          <a:prstGeom prst="roundRect">
            <a:avLst/>
          </a:prstGeom>
          <a:solidFill>
            <a:srgbClr val="2A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24431" y="1984248"/>
            <a:ext cx="438912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1359" y="1965960"/>
            <a:ext cx="210312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PREVENT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1327" y="1965960"/>
            <a:ext cx="630935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Improve process control; reduce leaks and unnecessary water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18207" y="2633472"/>
            <a:ext cx="7955279" cy="62179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64511" y="2743200"/>
            <a:ext cx="438912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1439" y="2724912"/>
            <a:ext cx="210312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REDUCE &amp; REUSE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1407" y="2724912"/>
            <a:ext cx="502919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Recover oil, reuse water where safe, and minimise materials.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58287" y="3392424"/>
            <a:ext cx="6675120" cy="621792"/>
          </a:xfrm>
          <a:prstGeom prst="roundRect">
            <a:avLst/>
          </a:prstGeom>
          <a:solidFill>
            <a:srgbClr val="469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04591" y="3502152"/>
            <a:ext cx="438912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1519" y="3483864"/>
            <a:ext cx="210312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RECYCLE / RECOVER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1487" y="3483864"/>
            <a:ext cx="374903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Recover usable oil, metals, solvents or energy when suitable.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98367" y="4151375"/>
            <a:ext cx="5394960" cy="621792"/>
          </a:xfrm>
          <a:prstGeom prst="round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44671" y="4261103"/>
            <a:ext cx="438912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1599" y="4242815"/>
            <a:ext cx="210312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TREAT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1567" y="4242815"/>
            <a:ext cx="24688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Use physical, chemical and biological treatment to meet standards.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38447" y="4910327"/>
            <a:ext cx="4114800" cy="621792"/>
          </a:xfrm>
          <a:prstGeom prst="roundRect">
            <a:avLst/>
          </a:prstGeom>
          <a:solidFill>
            <a:srgbClr val="FF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84751" y="5020055"/>
            <a:ext cx="438912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1679" y="5001767"/>
            <a:ext cx="210312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SAFE DISPOSAL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1647" y="5001767"/>
            <a:ext cx="118871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Dispose of residuals in authorised facilities with documentation.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97880"/>
            <a:ext cx="107899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00" b="1">
                <a:solidFill>
                  <a:srgbClr val="465B70"/>
                </a:solidFill>
                <a:latin typeface="Aptos"/>
              </a:defRPr>
            </a:pPr>
            <a:r>
              <a:t>Always classify hazardous waste correctly and follow applicable local regulations.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00A6A6"/>
                </a:solidFill>
                <a:latin typeface="Aptos"/>
              </a:defRPr>
            </a:pPr>
            <a:r>
              <a:t>06 • EFFLUENT TREATMENT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0F223A"/>
                </a:solidFill>
                <a:latin typeface="Aptos"/>
              </a:defRPr>
            </a:pPr>
            <a:r>
              <a:t>How refinery wastewater is treated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A treatment train combines several steps; not every refinery uses the exact same sequence.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960120" cy="5486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465B7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1755648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58952" y="2404872"/>
            <a:ext cx="502920" cy="50292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432304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86584"/>
            <a:ext cx="841247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23A"/>
                </a:solidFill>
                <a:latin typeface="Aptos"/>
              </a:defRPr>
            </a:pPr>
            <a:r>
              <a:t>Screening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999232"/>
            <a:ext cx="1371600" cy="1380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465B70"/>
                </a:solidFill>
                <a:latin typeface="Aptos"/>
              </a:defRPr>
            </a:pPr>
            <a:r>
              <a:t>Remove large debris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5144" y="3063240"/>
            <a:ext cx="2560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465B70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2888" y="2240280"/>
            <a:ext cx="1755648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697480" y="2404872"/>
            <a:ext cx="502920" cy="502920"/>
          </a:xfrm>
          <a:prstGeom prst="ellipse">
            <a:avLst/>
          </a:prstGeom>
          <a:solidFill>
            <a:srgbClr val="469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24912" y="2432304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2386584"/>
            <a:ext cx="841247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23A"/>
                </a:solidFill>
                <a:latin typeface="Aptos"/>
              </a:defRPr>
            </a:pPr>
            <a:r>
              <a:t>Oil separation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4056" y="2999232"/>
            <a:ext cx="1371600" cy="1380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465B70"/>
                </a:solidFill>
                <a:latin typeface="Aptos"/>
              </a:defRPr>
            </a:pPr>
            <a:r>
              <a:t>Skim free oil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3063240"/>
            <a:ext cx="2560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465B70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71416" y="2240280"/>
            <a:ext cx="1755648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36008" y="2404872"/>
            <a:ext cx="502920" cy="502920"/>
          </a:xfrm>
          <a:prstGeom prst="ellipse">
            <a:avLst/>
          </a:prstGeom>
          <a:solidFill>
            <a:srgbClr val="2A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2432304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2386584"/>
            <a:ext cx="841247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23A"/>
                </a:solidFill>
                <a:latin typeface="Aptos"/>
              </a:defRPr>
            </a:pPr>
            <a:r>
              <a:t>Equalisation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4" y="2999232"/>
            <a:ext cx="1371600" cy="1380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465B70"/>
                </a:solidFill>
                <a:latin typeface="Aptos"/>
              </a:defRPr>
            </a:pPr>
            <a:r>
              <a:t>Balance flow and strength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063240"/>
            <a:ext cx="2560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465B70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9944" y="2240280"/>
            <a:ext cx="1755648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574536" y="2404872"/>
            <a:ext cx="502920" cy="50292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01968" y="2432304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7184" y="2386584"/>
            <a:ext cx="841247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23A"/>
                </a:solidFill>
                <a:latin typeface="Aptos"/>
              </a:defRPr>
            </a:pPr>
            <a:r>
              <a:t>Chemical treatment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2999232"/>
            <a:ext cx="1371600" cy="1380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465B70"/>
                </a:solidFill>
                <a:latin typeface="Aptos"/>
              </a:defRPr>
            </a:pPr>
            <a:r>
              <a:t>Adjust pH; coagulate as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8" y="3063240"/>
            <a:ext cx="2560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465B70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48472" y="2240280"/>
            <a:ext cx="1755648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513064" y="2404872"/>
            <a:ext cx="502920" cy="502920"/>
          </a:xfrm>
          <a:prstGeom prst="ellipse">
            <a:avLst/>
          </a:prstGeom>
          <a:solidFill>
            <a:srgbClr val="89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40496" y="2432304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2" y="2386584"/>
            <a:ext cx="841247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23A"/>
                </a:solidFill>
                <a:latin typeface="Aptos"/>
              </a:defRPr>
            </a:pPr>
            <a:r>
              <a:t>Biological stage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2999232"/>
            <a:ext cx="1371600" cy="1380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465B70"/>
                </a:solidFill>
                <a:latin typeface="Aptos"/>
              </a:defRPr>
            </a:pPr>
            <a:r>
              <a:t>Microbes reduce biodegradable organics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9256" y="3063240"/>
            <a:ext cx="2560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465B70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87000" y="2240280"/>
            <a:ext cx="1755648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451592" y="2404872"/>
            <a:ext cx="502920" cy="502920"/>
          </a:xfrm>
          <a:prstGeom prst="ellipse">
            <a:avLst/>
          </a:prstGeom>
          <a:solidFill>
            <a:srgbClr val="FF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479024" y="2432304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2386584"/>
            <a:ext cx="841247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23A"/>
                </a:solidFill>
                <a:latin typeface="Aptos"/>
              </a:defRPr>
            </a:pPr>
            <a:r>
              <a:t>Polishing &amp; testing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88168" y="2999232"/>
            <a:ext cx="1371600" cy="1380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465B70"/>
                </a:solidFill>
                <a:latin typeface="Aptos"/>
              </a:defRPr>
            </a:pPr>
            <a:r>
              <a:t>Filter, disinfect if needed, verify quality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074920"/>
            <a:ext cx="10378440" cy="749808"/>
          </a:xfrm>
          <a:prstGeom prst="roundRect">
            <a:avLst/>
          </a:prstGeom>
          <a:solidFill>
            <a:srgbClr val="E2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43000" y="5230368"/>
            <a:ext cx="992124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400" b="1">
                <a:solidFill>
                  <a:srgbClr val="2A8E68"/>
                </a:solidFill>
                <a:latin typeface="Aptos"/>
              </a:defRPr>
            </a:pPr>
            <a:r>
              <a:t>Final discharge only after testing confirms compliance with the applicable permit or standard.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00A6A6"/>
                </a:solidFill>
                <a:latin typeface="Aptos"/>
              </a:defRPr>
            </a:pPr>
            <a:r>
              <a:t>07 • SLUDGE &amp; SOLID WASTE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0F223A"/>
                </a:solidFill>
                <a:latin typeface="Aptos"/>
              </a:defRPr>
            </a:pPr>
            <a:r>
              <a:t>Manage residuals safely—not just the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Treatment transfers pollutants into sludge or spent media, which still need responsible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960120" cy="5486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465B7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82296" cy="1828800"/>
          </a:xfrm>
          <a:prstGeom prst="rect">
            <a:avLst/>
          </a:prstGeom>
          <a:solidFill>
            <a:srgbClr val="FF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32688" y="2167128"/>
            <a:ext cx="502920" cy="502920"/>
          </a:xfrm>
          <a:prstGeom prst="ellipse">
            <a:avLst/>
          </a:prstGeom>
          <a:solidFill>
            <a:srgbClr val="FF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30552"/>
            <a:ext cx="246887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Characterise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87752"/>
            <a:ext cx="2468879" cy="10789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Test waste to identify oil content, hazardous properties and suitable handling.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96596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1965960"/>
            <a:ext cx="82296" cy="18288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0" y="2167128"/>
            <a:ext cx="502920" cy="50292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219456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130552"/>
            <a:ext cx="246887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Recover where possible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587752"/>
            <a:ext cx="2468879" cy="10789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Use approved oil recovery or metal recovery methods when technically safe.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96596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10144" y="1965960"/>
            <a:ext cx="82296" cy="1828800"/>
          </a:xfrm>
          <a:prstGeom prst="rect">
            <a:avLst/>
          </a:prstGeom>
          <a:solidFill>
            <a:srgbClr val="469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11312" y="2167128"/>
            <a:ext cx="502920" cy="502920"/>
          </a:xfrm>
          <a:prstGeom prst="ellipse">
            <a:avLst/>
          </a:prstGeom>
          <a:solidFill>
            <a:srgbClr val="469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38744" y="219456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2130552"/>
            <a:ext cx="246887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Treat &amp; dewater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2587752"/>
            <a:ext cx="2468879" cy="10789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Reduce volume and stabilise waste using an appropriate permitted process.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4251960"/>
            <a:ext cx="34747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60320" y="4251960"/>
            <a:ext cx="82296" cy="141732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61488" y="4453128"/>
            <a:ext cx="502920" cy="50292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88920" y="448056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79" y="4416552"/>
            <a:ext cx="246887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Store correctly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4873752"/>
            <a:ext cx="2468879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Use labelled, covered, compatible containers and secondary containment.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251960"/>
            <a:ext cx="34747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4251960"/>
            <a:ext cx="82296" cy="1417320"/>
          </a:xfrm>
          <a:prstGeom prst="rect">
            <a:avLst/>
          </a:prstGeom>
          <a:solidFill>
            <a:srgbClr val="2A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19088" y="4453128"/>
            <a:ext cx="502920" cy="502920"/>
          </a:xfrm>
          <a:prstGeom prst="ellipse">
            <a:avLst/>
          </a:prstGeom>
          <a:solidFill>
            <a:srgbClr val="2A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46520" y="448056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416552"/>
            <a:ext cx="246887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Track disposal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873752"/>
            <a:ext cx="2468879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Use authorised transporters and facilities; keep records and manifests.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00A6A6"/>
                </a:solidFill>
                <a:latin typeface="Aptos"/>
              </a:defRPr>
            </a:pPr>
            <a:r>
              <a:t>08 • AIR EMISSIONS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0F223A"/>
                </a:solidFill>
                <a:latin typeface="Aptos"/>
              </a:defRPr>
            </a:pPr>
            <a:r>
              <a:t>Prevent and control pollution at the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Good maintenance and energy efficiency reduce both emissions and operating losses.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960120" cy="5486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465B7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011680"/>
            <a:ext cx="4434840" cy="3611880"/>
          </a:xfrm>
          <a:prstGeom prst="roundRect">
            <a:avLst/>
          </a:prstGeom>
          <a:solidFill>
            <a:srgbClr val="DB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142524" y="2372868"/>
            <a:ext cx="576529" cy="576529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505955" y="4467758"/>
            <a:ext cx="3104387" cy="1516989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01634" y="4612233"/>
            <a:ext cx="3547872" cy="1264158"/>
          </a:xfrm>
          <a:prstGeom prst="ellipse">
            <a:avLst/>
          </a:prstGeom>
          <a:solidFill>
            <a:srgbClr val="2A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49440" y="4973421"/>
            <a:ext cx="4434840" cy="650138"/>
          </a:xfrm>
          <a:prstGeom prst="rect">
            <a:avLst/>
          </a:prstGeom>
          <a:solidFill>
            <a:srgbClr val="307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04227" y="3998214"/>
            <a:ext cx="798271" cy="1019272"/>
          </a:xfrm>
          <a:prstGeom prst="rect">
            <a:avLst/>
          </a:prstGeom>
          <a:solidFill>
            <a:srgbClr val="E9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04227" y="3745382"/>
            <a:ext cx="798271" cy="4695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rc 13"/>
          <p:cNvSpPr/>
          <p:nvPr/>
        </p:nvSpPr>
        <p:spPr>
          <a:xfrm>
            <a:off x="7304227" y="4641851"/>
            <a:ext cx="798271" cy="469544"/>
          </a:xfrm>
          <a:prstGeom prst="arc">
            <a:avLst/>
          </a:prstGeom>
          <a:solidFill>
            <a:srgbClr val="46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4240" y="4287164"/>
            <a:ext cx="620877" cy="779443"/>
          </a:xfrm>
          <a:prstGeom prst="rect">
            <a:avLst/>
          </a:prstGeom>
          <a:solidFill>
            <a:srgbClr val="E9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24240" y="4034332"/>
            <a:ext cx="620877" cy="4695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324240" y="4719867"/>
            <a:ext cx="620877" cy="469544"/>
          </a:xfrm>
          <a:prstGeom prst="arc">
            <a:avLst/>
          </a:prstGeom>
          <a:solidFill>
            <a:srgbClr val="46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55556" y="4106570"/>
            <a:ext cx="753922" cy="929336"/>
          </a:xfrm>
          <a:prstGeom prst="rect">
            <a:avLst/>
          </a:prstGeom>
          <a:solidFill>
            <a:srgbClr val="E9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255556" y="3853738"/>
            <a:ext cx="753922" cy="4695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rc 19"/>
          <p:cNvSpPr/>
          <p:nvPr/>
        </p:nvSpPr>
        <p:spPr>
          <a:xfrm>
            <a:off x="9255556" y="4671107"/>
            <a:ext cx="753922" cy="469544"/>
          </a:xfrm>
          <a:prstGeom prst="arc">
            <a:avLst/>
          </a:prstGeom>
          <a:solidFill>
            <a:srgbClr val="46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58150" y="3239719"/>
            <a:ext cx="199567" cy="1733702"/>
          </a:xfrm>
          <a:prstGeom prst="rect">
            <a:avLst/>
          </a:prstGeom>
          <a:solidFill>
            <a:srgbClr val="FF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22671" y="3239719"/>
            <a:ext cx="270525" cy="1264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00769" y="2878531"/>
            <a:ext cx="199567" cy="2094890"/>
          </a:xfrm>
          <a:prstGeom prst="rect">
            <a:avLst/>
          </a:prstGeom>
          <a:solidFill>
            <a:srgbClr val="5A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865290" y="2878531"/>
            <a:ext cx="270525" cy="1264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009479" y="3420313"/>
            <a:ext cx="199567" cy="1553108"/>
          </a:xfrm>
          <a:prstGeom prst="rect">
            <a:avLst/>
          </a:prstGeom>
          <a:solidFill>
            <a:srgbClr val="5A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974000" y="3420313"/>
            <a:ext cx="270525" cy="1264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13801" y="3962095"/>
            <a:ext cx="1374800" cy="90297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66859" y="3745382"/>
            <a:ext cx="110871" cy="361188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86873" y="3456432"/>
            <a:ext cx="886968" cy="65013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057400"/>
            <a:ext cx="5669280" cy="356616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0F223A"/>
                </a:solidFill>
                <a:latin typeface="Aptos"/>
              </a:defRPr>
            </a:pPr>
            <a:r>
              <a:t>•  Detect and repair leaks through a leak-detection-and-repair (LDAR) programme.</a:t>
            </a:r>
          </a:p>
          <a:p>
            <a:pPr>
              <a:spcAft>
                <a:spcPts val="1100"/>
              </a:spcAft>
              <a:defRPr sz="1500">
                <a:solidFill>
                  <a:srgbClr val="0F223A"/>
                </a:solidFill>
                <a:latin typeface="Aptos"/>
              </a:defRPr>
            </a:pPr>
            <a:r>
              <a:t>•  Use suitable controls for sulphur compounds and combustion emissions.</a:t>
            </a:r>
          </a:p>
          <a:p>
            <a:pPr>
              <a:spcAft>
                <a:spcPts val="1100"/>
              </a:spcAft>
              <a:defRPr sz="1500">
                <a:solidFill>
                  <a:srgbClr val="0F223A"/>
                </a:solidFill>
                <a:latin typeface="Aptos"/>
              </a:defRPr>
            </a:pPr>
            <a:r>
              <a:t>•  Optimise burners and maintain equipment to reduce incomplete combustion.</a:t>
            </a:r>
          </a:p>
          <a:p>
            <a:pPr>
              <a:spcAft>
                <a:spcPts val="1100"/>
              </a:spcAft>
              <a:defRPr sz="1500">
                <a:solidFill>
                  <a:srgbClr val="0F223A"/>
                </a:solidFill>
                <a:latin typeface="Aptos"/>
              </a:defRPr>
            </a:pPr>
            <a:r>
              <a:t>•  Monitor flare operation and avoid routine flaring where feasible.</a:t>
            </a:r>
          </a:p>
          <a:p>
            <a:pPr>
              <a:spcAft>
                <a:spcPts val="1100"/>
              </a:spcAft>
              <a:defRPr sz="1500">
                <a:solidFill>
                  <a:srgbClr val="0F223A"/>
                </a:solidFill>
                <a:latin typeface="Aptos"/>
              </a:defRPr>
            </a:pPr>
            <a:r>
              <a:t>•  Measure emissions and keep transparent operating records.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715000"/>
            <a:ext cx="5394960" cy="384048"/>
          </a:xfrm>
          <a:prstGeom prst="round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5769864"/>
            <a:ext cx="51206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Measure • Maintain • Improve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00A6A6"/>
                </a:solidFill>
                <a:latin typeface="Aptos"/>
              </a:defRPr>
            </a:pPr>
            <a:r>
              <a:t>09 • MONITORING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0F223A"/>
                </a:solidFill>
                <a:latin typeface="Aptos"/>
              </a:defRPr>
            </a:pPr>
            <a:r>
              <a:t>You can’t manage what you don’t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A practical monitoring programme detects problems early and shows whether controls are working.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960120" cy="5486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465B7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4290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1554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00A6A6"/>
                </a:solidFill>
                <a:latin typeface="Aptos"/>
              </a:defRPr>
            </a:pPr>
            <a:r>
              <a:t>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32888"/>
            <a:ext cx="29260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Acidity / alkalinity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965960"/>
            <a:ext cx="34290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27448" y="2130552"/>
            <a:ext cx="1554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469AD4"/>
                </a:solidFill>
                <a:latin typeface="Aptos"/>
              </a:defRPr>
            </a:pPr>
            <a:r>
              <a:t>COD / BOD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532888"/>
            <a:ext cx="29260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Organic pollution 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965960"/>
            <a:ext cx="34290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22208" y="2130552"/>
            <a:ext cx="1554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FF705C"/>
                </a:solidFill>
                <a:latin typeface="Aptos"/>
              </a:defRPr>
            </a:pPr>
            <a:r>
              <a:t>Oil &amp; grease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532888"/>
            <a:ext cx="29260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Hydrocarbon contamination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34290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639312"/>
            <a:ext cx="1554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FFBE46"/>
                </a:solidFill>
                <a:latin typeface="Aptos"/>
              </a:defRPr>
            </a:pPr>
            <a:r>
              <a:t>TSS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041648"/>
            <a:ext cx="29260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Suspended particles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474720"/>
            <a:ext cx="34290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3639312"/>
            <a:ext cx="1554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2A8E68"/>
                </a:solidFill>
                <a:latin typeface="Aptos"/>
              </a:defRPr>
            </a:pPr>
            <a:r>
              <a:t>Metals / phenols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4041648"/>
            <a:ext cx="29260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Specific contaminants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474720"/>
            <a:ext cx="34290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22208" y="3639312"/>
            <a:ext cx="1554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8969BE"/>
                </a:solidFill>
                <a:latin typeface="Aptos"/>
              </a:defRPr>
            </a:pPr>
            <a:r>
              <a:t>Flow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4041648"/>
            <a:ext cx="29260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Total pollutant load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349240"/>
            <a:ext cx="10332720" cy="658368"/>
          </a:xfrm>
          <a:prstGeom prst="roundRect">
            <a:avLst/>
          </a:prstGeom>
          <a:solidFill>
            <a:srgbClr val="E2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5504688"/>
            <a:ext cx="9875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1">
                <a:solidFill>
                  <a:srgbClr val="2A8E68"/>
                </a:solidFill>
                <a:latin typeface="Aptos"/>
              </a:defRPr>
            </a:pPr>
            <a:r>
              <a:t>Sample safely • Use calibrated instruments • Compare results with permit limits • Act on trends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00A6A6"/>
                </a:solidFill>
                <a:latin typeface="Aptos"/>
              </a:defRPr>
            </a:pPr>
            <a:r>
              <a:t>10 • PREVENTION &amp; EMERGENCY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0F223A"/>
                </a:solidFill>
                <a:latin typeface="Aptos"/>
              </a:defRPr>
            </a:pPr>
            <a:r>
              <a:t>Build safety into everyday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Preparedness reduces the chance that a small leak becomes a major incident.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960120" cy="5486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465B7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82296" cy="15087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32688" y="2167128"/>
            <a:ext cx="502920" cy="50292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30552"/>
            <a:ext cx="246887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Prevent leaks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87752"/>
            <a:ext cx="2468879" cy="758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Inspect tanks, pipelines, valves and transfer points; maintain seals.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96596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1965960"/>
            <a:ext cx="82296" cy="1508760"/>
          </a:xfrm>
          <a:prstGeom prst="rect">
            <a:avLst/>
          </a:prstGeom>
          <a:solidFill>
            <a:srgbClr val="FF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0" y="2167128"/>
            <a:ext cx="502920" cy="502920"/>
          </a:xfrm>
          <a:prstGeom prst="ellipse">
            <a:avLst/>
          </a:prstGeom>
          <a:solidFill>
            <a:srgbClr val="FF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219456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130552"/>
            <a:ext cx="246887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Contain spills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587752"/>
            <a:ext cx="2468879" cy="758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Use bunds, drain isolation, spill kits and safe recovery procedures.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96596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10144" y="1965960"/>
            <a:ext cx="82296" cy="1508760"/>
          </a:xfrm>
          <a:prstGeom prst="rect">
            <a:avLst/>
          </a:prstGeom>
          <a:solidFill>
            <a:srgbClr val="469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11312" y="2167128"/>
            <a:ext cx="502920" cy="502920"/>
          </a:xfrm>
          <a:prstGeom prst="ellipse">
            <a:avLst/>
          </a:prstGeom>
          <a:solidFill>
            <a:srgbClr val="469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38744" y="219456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2130552"/>
            <a:ext cx="246887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Train people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2587752"/>
            <a:ext cx="2468879" cy="758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Practise response plans, reporting, PPE use and emergency communication.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3977639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60320" y="3977639"/>
            <a:ext cx="82296" cy="150876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61488" y="4178807"/>
            <a:ext cx="502920" cy="50292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88920" y="420624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79" y="4142231"/>
            <a:ext cx="246887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Investigate causes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4599431"/>
            <a:ext cx="2468879" cy="758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Record incidents and near misses; fix root causes, not just symptoms.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977639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3977639"/>
            <a:ext cx="82296" cy="1508760"/>
          </a:xfrm>
          <a:prstGeom prst="rect">
            <a:avLst/>
          </a:prstGeom>
          <a:solidFill>
            <a:srgbClr val="2A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19088" y="4178807"/>
            <a:ext cx="502920" cy="502920"/>
          </a:xfrm>
          <a:prstGeom prst="ellipse">
            <a:avLst/>
          </a:prstGeom>
          <a:solidFill>
            <a:srgbClr val="2A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46520" y="420624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142231"/>
            <a:ext cx="246887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0F223A"/>
                </a:solidFill>
                <a:latin typeface="Aptos"/>
              </a:defRPr>
            </a:pPr>
            <a:r>
              <a:t>Improve continuously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599431"/>
            <a:ext cx="2468879" cy="758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Audit controls, review data and update procedures after lessons learned.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00A6A6"/>
                </a:solidFill>
                <a:latin typeface="Aptos"/>
              </a:defRPr>
            </a:pPr>
            <a:r>
              <a:t>11 •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0F223A"/>
                </a:solidFill>
                <a:latin typeface="Aptos"/>
              </a:defRPr>
            </a:pPr>
            <a:r>
              <a:t>A practical roadmap for a cleaner refinery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465B70"/>
                </a:solidFill>
                <a:latin typeface="Aptos"/>
              </a:defRPr>
            </a:pPr>
            <a:r>
              <a:t>Combine engineering controls, trained staff and reliable monitoring.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960120" cy="5486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465B7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901952"/>
            <a:ext cx="502920" cy="50292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929384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938528"/>
            <a:ext cx="1371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00A6A6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938528"/>
            <a:ext cx="81381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0F223A"/>
                </a:solidFill>
                <a:latin typeface="Aptos"/>
              </a:defRPr>
            </a:pPr>
            <a:r>
              <a:t>Map waste streams and verify legal requirements.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06424" y="2414016"/>
            <a:ext cx="32004" cy="274320"/>
          </a:xfrm>
          <a:prstGeom prst="rect">
            <a:avLst/>
          </a:prstGeom>
          <a:solidFill>
            <a:srgbClr val="C4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2660904"/>
            <a:ext cx="502920" cy="502920"/>
          </a:xfrm>
          <a:prstGeom prst="ellipse">
            <a:avLst/>
          </a:prstGeom>
          <a:solidFill>
            <a:srgbClr val="469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688336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697480"/>
            <a:ext cx="1371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469AD4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697480"/>
            <a:ext cx="81381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0F223A"/>
                </a:solidFill>
                <a:latin typeface="Aptos"/>
              </a:defRPr>
            </a:pPr>
            <a:r>
              <a:t>Fix leaks, improve housekeeping and separate incompatible wastes.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06424" y="3172968"/>
            <a:ext cx="32004" cy="274320"/>
          </a:xfrm>
          <a:prstGeom prst="rect">
            <a:avLst/>
          </a:prstGeom>
          <a:solidFill>
            <a:srgbClr val="C4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8680" y="3419856"/>
            <a:ext cx="502920" cy="502920"/>
          </a:xfrm>
          <a:prstGeom prst="ellipse">
            <a:avLst/>
          </a:prstGeom>
          <a:solidFill>
            <a:srgbClr val="2A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447288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456432"/>
            <a:ext cx="1371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2A8E68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456432"/>
            <a:ext cx="81381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0F223A"/>
                </a:solidFill>
                <a:latin typeface="Aptos"/>
              </a:defRPr>
            </a:pPr>
            <a:r>
              <a:t>Optimise wastewater treatment and reuse water where safe.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6424" y="3931920"/>
            <a:ext cx="32004" cy="274320"/>
          </a:xfrm>
          <a:prstGeom prst="rect">
            <a:avLst/>
          </a:prstGeom>
          <a:solidFill>
            <a:srgbClr val="C4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8680" y="4178808"/>
            <a:ext cx="502920" cy="50292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4206240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215384"/>
            <a:ext cx="1371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FFBE46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215384"/>
            <a:ext cx="81381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0F223A"/>
                </a:solidFill>
                <a:latin typeface="Aptos"/>
              </a:defRPr>
            </a:pPr>
            <a:r>
              <a:t>Set measurable targets for oil recovery, water use and emissions.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6424" y="4690872"/>
            <a:ext cx="32004" cy="274320"/>
          </a:xfrm>
          <a:prstGeom prst="rect">
            <a:avLst/>
          </a:prstGeom>
          <a:solidFill>
            <a:srgbClr val="C4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68680" y="4937760"/>
            <a:ext cx="502920" cy="502920"/>
          </a:xfrm>
          <a:prstGeom prst="ellipse">
            <a:avLst/>
          </a:prstGeom>
          <a:solidFill>
            <a:srgbClr val="FF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4965192"/>
            <a:ext cx="448056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4974336"/>
            <a:ext cx="1371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FF705C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974336"/>
            <a:ext cx="81381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0F223A"/>
                </a:solidFill>
                <a:latin typeface="Aptos"/>
              </a:defRPr>
            </a:pPr>
            <a:r>
              <a:t>Audit results, publish performance and keep improving.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5897880"/>
            <a:ext cx="10241280" cy="411480"/>
          </a:xfrm>
          <a:prstGeom prst="round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43000" y="5952744"/>
            <a:ext cx="98755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Success = less waste + lower risk + verified compliance.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AEEBD5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6400800" cy="10058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Protecting the environment is part of responsible refining.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5760720" cy="214884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Prevent and minimise waste at source.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Treat effluents and manage sludge responsibly.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Monitor performance and respond quickly to incidents.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508760"/>
            <a:ext cx="4343400" cy="3246120"/>
          </a:xfrm>
          <a:prstGeom prst="round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68128" y="1833372"/>
            <a:ext cx="564642" cy="564642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606540" y="3716121"/>
            <a:ext cx="3040379" cy="136337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61070" y="3845966"/>
            <a:ext cx="3474720" cy="1136142"/>
          </a:xfrm>
          <a:prstGeom prst="ellipse">
            <a:avLst/>
          </a:prstGeom>
          <a:solidFill>
            <a:srgbClr val="2A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4170578"/>
            <a:ext cx="4343400" cy="584301"/>
          </a:xfrm>
          <a:prstGeom prst="rect">
            <a:avLst/>
          </a:prstGeom>
          <a:solidFill>
            <a:srgbClr val="307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88352" y="3294125"/>
            <a:ext cx="781812" cy="916055"/>
          </a:xfrm>
          <a:prstGeom prst="rect">
            <a:avLst/>
          </a:prstGeom>
          <a:solidFill>
            <a:srgbClr val="E9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88352" y="3066897"/>
            <a:ext cx="781812" cy="4219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rc 11"/>
          <p:cNvSpPr/>
          <p:nvPr/>
        </p:nvSpPr>
        <p:spPr>
          <a:xfrm>
            <a:off x="7388352" y="3872584"/>
            <a:ext cx="781812" cy="421995"/>
          </a:xfrm>
          <a:prstGeom prst="arc">
            <a:avLst/>
          </a:prstGeom>
          <a:solidFill>
            <a:srgbClr val="46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87333" y="3553815"/>
            <a:ext cx="608076" cy="700512"/>
          </a:xfrm>
          <a:prstGeom prst="rect">
            <a:avLst/>
          </a:prstGeom>
          <a:solidFill>
            <a:srgbClr val="E9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87333" y="3326587"/>
            <a:ext cx="608076" cy="4219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rc 14"/>
          <p:cNvSpPr/>
          <p:nvPr/>
        </p:nvSpPr>
        <p:spPr>
          <a:xfrm>
            <a:off x="8387333" y="3942700"/>
            <a:ext cx="608076" cy="421995"/>
          </a:xfrm>
          <a:prstGeom prst="arc">
            <a:avLst/>
          </a:prstGeom>
          <a:solidFill>
            <a:srgbClr val="46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299448" y="3391509"/>
            <a:ext cx="738378" cy="835226"/>
          </a:xfrm>
          <a:prstGeom prst="rect">
            <a:avLst/>
          </a:prstGeom>
          <a:solidFill>
            <a:srgbClr val="E9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99448" y="3164281"/>
            <a:ext cx="738378" cy="4219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rc 17"/>
          <p:cNvSpPr/>
          <p:nvPr/>
        </p:nvSpPr>
        <p:spPr>
          <a:xfrm>
            <a:off x="9299448" y="3898878"/>
            <a:ext cx="738378" cy="421995"/>
          </a:xfrm>
          <a:prstGeom prst="arc">
            <a:avLst/>
          </a:prstGeom>
          <a:solidFill>
            <a:srgbClr val="46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26729" y="2612440"/>
            <a:ext cx="195453" cy="1558137"/>
          </a:xfrm>
          <a:prstGeom prst="rect">
            <a:avLst/>
          </a:prstGeom>
          <a:solidFill>
            <a:srgbClr val="FF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1982" y="2612440"/>
            <a:ext cx="264947" cy="1136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51976" y="2287828"/>
            <a:ext cx="195453" cy="1882749"/>
          </a:xfrm>
          <a:prstGeom prst="rect">
            <a:avLst/>
          </a:prstGeom>
          <a:solidFill>
            <a:srgbClr val="5A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17228" y="2287828"/>
            <a:ext cx="264947" cy="1136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037826" y="2774746"/>
            <a:ext cx="195453" cy="1395831"/>
          </a:xfrm>
          <a:prstGeom prst="rect">
            <a:avLst/>
          </a:prstGeom>
          <a:solidFill>
            <a:srgbClr val="5A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03078" y="2774746"/>
            <a:ext cx="264947" cy="1136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83296" y="3261664"/>
            <a:ext cx="1346454" cy="81153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212580" y="3066897"/>
            <a:ext cx="108585" cy="324612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11562" y="2807208"/>
            <a:ext cx="868680" cy="58430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754880"/>
            <a:ext cx="106070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FFBE46"/>
                </a:solidFill>
                <a:latin typeface="Aptos"/>
              </a:defRPr>
            </a:pPr>
            <a:r>
              <a:t>REFERENCES / FURTHER READING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074920"/>
            <a:ext cx="10789920" cy="1051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• World Bank Group, Environmental, Health, and Safety Guidelines for Petroleum Refining.</a:t>
            </a:r>
            <a:br/>
            <a:r>
              <a:t>• U.S. EPA, petroleum refinery wastewater and air pollution control resources.</a:t>
            </a:r>
            <a:br/>
            <a:r>
              <a:t>• Applicable national and local environmental regulations and discharge permits.</a:t>
            </a:r>
            <a:br/>
            <a:r>
              <a:t>Note: Confirm the latest standards for your location before using this project for compliance decisions.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AEEBD5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1170</Words>
  <Application>Microsoft Office PowerPoint</Application>
  <PresentationFormat>Widescreen</PresentationFormat>
  <Paragraphs>220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sanajana</cp:lastModifiedBy>
  <cp:revision>3</cp:revision>
  <dcterms:created xsi:type="dcterms:W3CDTF">2013-01-27T09:14:16Z</dcterms:created>
  <dcterms:modified xsi:type="dcterms:W3CDTF">2026-10-12T15:52:28Z</dcterms:modified>
  <cp:category/>
</cp:coreProperties>
</file>